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2"/>
  </p:notesMasterIdLst>
  <p:sldIdLst>
    <p:sldId id="257" r:id="rId2"/>
    <p:sldId id="276" r:id="rId3"/>
    <p:sldId id="259" r:id="rId4"/>
    <p:sldId id="261" r:id="rId5"/>
    <p:sldId id="278" r:id="rId6"/>
    <p:sldId id="277" r:id="rId7"/>
    <p:sldId id="279" r:id="rId8"/>
    <p:sldId id="280" r:id="rId9"/>
    <p:sldId id="281" r:id="rId10"/>
    <p:sldId id="273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82649" autoAdjust="0"/>
  </p:normalViewPr>
  <p:slideViewPr>
    <p:cSldViewPr snapToGrid="0" snapToObjects="1">
      <p:cViewPr varScale="1">
        <p:scale>
          <a:sx n="64" d="100"/>
          <a:sy n="64" d="100"/>
        </p:scale>
        <p:origin x="125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D175C-0119-4CBA-8869-B051C64F9E0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3920F-F18C-44E2-A253-65AA27A2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09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3920F-F18C-44E2-A253-65AA27A253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56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3920F-F18C-44E2-A253-65AA27A253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4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Em sử dụng mô hình vinai/phobert-base </a:t>
            </a:r>
            <a:r>
              <a:rPr lang="vi-VN" i="1" dirty="0"/>
              <a:t>(mô hình ngôn ngữ tiếng Việt đã được huấn luyện sẵn)</a:t>
            </a:r>
            <a:r>
              <a:rPr lang="vi-VN" dirty="0"/>
              <a:t> và tiến hành </a:t>
            </a:r>
            <a:r>
              <a:rPr lang="vi-VN" b="1" dirty="0"/>
              <a:t>fine-tune</a:t>
            </a:r>
            <a:r>
              <a:rPr lang="vi-VN" dirty="0"/>
              <a:t> </a:t>
            </a:r>
            <a:r>
              <a:rPr lang="vi-VN" i="1" dirty="0"/>
              <a:t>(huấn luyện lại trên dữ liệu cụ thể để phù hợp với bài toán sentiment)</a:t>
            </a:r>
            <a:r>
              <a:rPr lang="vi-VN" dirty="0"/>
              <a:t> trên tập dữ liệu TVU gồm khoảng 2004 comment đã được </a:t>
            </a:r>
            <a:r>
              <a:rPr lang="vi-VN" b="1" dirty="0"/>
              <a:t>gán nhãn thủ công</a:t>
            </a:r>
            <a:r>
              <a:rPr lang="vi-VN" dirty="0"/>
              <a:t> </a:t>
            </a:r>
            <a:r>
              <a:rPr lang="vi-VN" i="1" dirty="0"/>
              <a:t>(con người tự phân loại POS/NEG/NEU để đảm bảo độ chính xác)</a:t>
            </a:r>
            <a:r>
              <a:rPr lang="vi-VN" dirty="0"/>
              <a:t>.</a:t>
            </a:r>
          </a:p>
          <a:p>
            <a:r>
              <a:rPr lang="vi-VN" dirty="0"/>
              <a:t>Sau quá trình huấn luyện, mô hình đạt </a:t>
            </a:r>
            <a:r>
              <a:rPr lang="vi-VN" b="1" dirty="0"/>
              <a:t>độ chính xác (Accuracy)</a:t>
            </a:r>
            <a:r>
              <a:rPr lang="vi-VN" dirty="0"/>
              <a:t> </a:t>
            </a:r>
            <a:r>
              <a:rPr lang="vi-VN" i="1" dirty="0"/>
              <a:t>(tỷ lệ dự đoán đúng trên toàn bộ dữ liệu)</a:t>
            </a:r>
            <a:r>
              <a:rPr lang="vi-VN" dirty="0"/>
              <a:t> là 74.6% và </a:t>
            </a:r>
            <a:r>
              <a:rPr lang="vi-VN" b="1" dirty="0"/>
              <a:t>F1-score macro</a:t>
            </a:r>
            <a:r>
              <a:rPr lang="vi-VN" dirty="0"/>
              <a:t> </a:t>
            </a:r>
            <a:r>
              <a:rPr lang="vi-VN" i="1" dirty="0"/>
              <a:t>(trung bình F1 của từng lớp, mỗi lớp được tính ngang nhau)</a:t>
            </a:r>
            <a:r>
              <a:rPr lang="vi-VN" dirty="0"/>
              <a:t> là 0.6794.</a:t>
            </a:r>
          </a:p>
          <a:p>
            <a:r>
              <a:rPr lang="vi-VN" b="1" dirty="0"/>
              <a:t>F1-score</a:t>
            </a:r>
            <a:r>
              <a:rPr lang="vi-VN" dirty="0"/>
              <a:t> </a:t>
            </a:r>
            <a:r>
              <a:rPr lang="vi-VN" i="1" dirty="0"/>
              <a:t>(chỉ số kết hợp giữa Precision – độ chính xác dự đoán và Recall – khả năng tìm đủ dữ liệu)</a:t>
            </a:r>
            <a:r>
              <a:rPr lang="vi-VN" dirty="0"/>
              <a:t> giúp đánh giá tốt hơn trong trường hợp dữ liệu không cân bằng.</a:t>
            </a:r>
          </a:p>
          <a:p>
            <a:r>
              <a:rPr lang="vi-VN" dirty="0"/>
              <a:t>Kết quả cho thấy mô hình hoạt động tốt trên dữ liệu thực tế, tuy nhiên vẫn còn hạn chế ở </a:t>
            </a:r>
            <a:r>
              <a:rPr lang="vi-VN" b="1" dirty="0"/>
              <a:t>lớp negative</a:t>
            </a:r>
            <a:r>
              <a:rPr lang="vi-VN" dirty="0"/>
              <a:t> </a:t>
            </a:r>
            <a:r>
              <a:rPr lang="vi-VN" i="1" dirty="0"/>
              <a:t>(nhóm dữ liệu tiêu cực, thường khó phân loại hơn do ít dữ liệu hoặc ngôn ngữ phức tạp)</a:t>
            </a:r>
            <a:r>
              <a:rPr lang="vi-V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3920F-F18C-44E2-A253-65AA27A253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28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pretrained </a:t>
            </a:r>
            <a:r>
              <a:rPr lang="en-US" dirty="0" err="1"/>
              <a:t>Wonrax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PhoBERT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fine-tune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TVU.</a:t>
            </a:r>
            <a:br>
              <a:rPr lang="en-US" dirty="0"/>
            </a:b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Wonrax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31.9% accuracy do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81.74% accuracy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50%.</a:t>
            </a:r>
            <a:br>
              <a:rPr lang="en-US" dirty="0"/>
            </a:b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fine-tune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thù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3920F-F18C-44E2-A253-65AA27A253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47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3920F-F18C-44E2-A253-65AA27A253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89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3920F-F18C-44E2-A253-65AA27A253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2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3920F-F18C-44E2-A253-65AA27A253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71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3920F-F18C-44E2-A253-65AA27A253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13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3920F-F18C-44E2-A253-65AA27A253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10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5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91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25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6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66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7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4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0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2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547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16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5640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57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66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2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68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4E3578CA-33F6-4976-91EF-721EDE270BC6}"/>
              </a:ext>
            </a:extLst>
          </p:cNvPr>
          <p:cNvSpPr txBox="1"/>
          <p:nvPr/>
        </p:nvSpPr>
        <p:spPr>
          <a:xfrm>
            <a:off x="234894" y="2256186"/>
            <a:ext cx="117190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rPr lang="vi-VN" sz="2800" dirty="0">
                <a:solidFill>
                  <a:srgbClr val="FF0000"/>
                </a:solidFill>
              </a:rPr>
              <a:t>TÌM HIỂU VÀ PHÂN TÍCH DỮ LIỆU TƯƠNG TÁC NGƯỜI DÙNG </a:t>
            </a:r>
          </a:p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rPr lang="vi-VN" sz="2800" dirty="0">
                <a:solidFill>
                  <a:srgbClr val="FF0000"/>
                </a:solidFill>
              </a:rPr>
              <a:t>TRÊN KÊNH TIKTOK TVU</a:t>
            </a:r>
            <a:endParaRPr sz="28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90BC68-CC80-4C3A-A12A-00C0F70667A7}"/>
              </a:ext>
            </a:extLst>
          </p:cNvPr>
          <p:cNvSpPr txBox="1"/>
          <p:nvPr/>
        </p:nvSpPr>
        <p:spPr>
          <a:xfrm>
            <a:off x="2898582" y="1189535"/>
            <a:ext cx="5921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rPr lang="vi-VN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cáo công việc tuần </a:t>
            </a:r>
            <a:endParaRPr lang="fr-FR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FB4281-0792-4ADF-9A69-B618532163BB}"/>
              </a:ext>
            </a:extLst>
          </p:cNvPr>
          <p:cNvSpPr txBox="1"/>
          <p:nvPr/>
        </p:nvSpPr>
        <p:spPr>
          <a:xfrm>
            <a:off x="1291341" y="5265287"/>
            <a:ext cx="480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rPr lang="vi-V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Người thực hiện: Lê Tuấn Kha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FBF343-32B5-4A31-B61E-875DB43DE0E5}"/>
              </a:ext>
            </a:extLst>
          </p:cNvPr>
          <p:cNvSpPr txBox="1"/>
          <p:nvPr/>
        </p:nvSpPr>
        <p:spPr>
          <a:xfrm>
            <a:off x="3457979" y="3741403"/>
            <a:ext cx="48030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rPr lang="vi-V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Tuần 2: 09/03 đến 13/03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9555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THU THẬP, TIỀN XỬ LÍ VÀ GÁN NHÃN DỮ LIỆU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15A592-7057-4606-AC4D-6D131E24BBC9}"/>
              </a:ext>
            </a:extLst>
          </p:cNvPr>
          <p:cNvSpPr/>
          <p:nvPr/>
        </p:nvSpPr>
        <p:spPr>
          <a:xfrm>
            <a:off x="457200" y="1005840"/>
            <a:ext cx="2743200" cy="1188720"/>
          </a:xfrm>
          <a:prstGeom prst="rect">
            <a:avLst/>
          </a:prstGeom>
          <a:solidFill>
            <a:srgbClr val="1A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FA270-8674-4FCF-913B-E8E3CF2DCEE3}"/>
              </a:ext>
            </a:extLst>
          </p:cNvPr>
          <p:cNvSpPr txBox="1"/>
          <p:nvPr/>
        </p:nvSpPr>
        <p:spPr>
          <a:xfrm>
            <a:off x="457200" y="1097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2.865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4919F1-4BBA-46E4-AE29-AD3AB9DB649F}"/>
              </a:ext>
            </a:extLst>
          </p:cNvPr>
          <p:cNvSpPr txBox="1"/>
          <p:nvPr/>
        </p:nvSpPr>
        <p:spPr>
          <a:xfrm>
            <a:off x="457200" y="17373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Bình luận TikTok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4548A5-F3E7-451F-BF3F-59AEBFD2926B}"/>
              </a:ext>
            </a:extLst>
          </p:cNvPr>
          <p:cNvSpPr/>
          <p:nvPr/>
        </p:nvSpPr>
        <p:spPr>
          <a:xfrm>
            <a:off x="3383280" y="1005840"/>
            <a:ext cx="2743200" cy="118872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8DA35-CE37-4DD2-93D3-8641E554F7AD}"/>
              </a:ext>
            </a:extLst>
          </p:cNvPr>
          <p:cNvSpPr txBox="1"/>
          <p:nvPr/>
        </p:nvSpPr>
        <p:spPr>
          <a:xfrm>
            <a:off x="3383280" y="1097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3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  <a:endParaRPr sz="3400" b="1" i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11DA-7609-4029-96C2-54F741F5EA65}"/>
              </a:ext>
            </a:extLst>
          </p:cNvPr>
          <p:cNvSpPr txBox="1"/>
          <p:nvPr/>
        </p:nvSpPr>
        <p:spPr>
          <a:xfrm>
            <a:off x="3383280" y="17373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 phân tích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46B2A0-D705-4A1F-B3C3-3A386F0314B6}"/>
              </a:ext>
            </a:extLst>
          </p:cNvPr>
          <p:cNvSpPr/>
          <p:nvPr/>
        </p:nvSpPr>
        <p:spPr>
          <a:xfrm>
            <a:off x="6309360" y="1005840"/>
            <a:ext cx="2743200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9364A2-28DA-401C-B3C9-808E0381C68D}"/>
              </a:ext>
            </a:extLst>
          </p:cNvPr>
          <p:cNvSpPr txBox="1"/>
          <p:nvPr/>
        </p:nvSpPr>
        <p:spPr>
          <a:xfrm>
            <a:off x="6309360" y="1097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vi-VN" sz="3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004</a:t>
            </a:r>
            <a:endParaRPr sz="3400" b="1" i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B8B684-1D7A-4C91-8136-25BAE7B2F630}"/>
              </a:ext>
            </a:extLst>
          </p:cNvPr>
          <p:cNvSpPr txBox="1"/>
          <p:nvPr/>
        </p:nvSpPr>
        <p:spPr>
          <a:xfrm>
            <a:off x="6309360" y="17373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</a:t>
            </a:r>
            <a:r>
              <a:rPr sz="1100" b="0" i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gán</a:t>
            </a:r>
            <a:r>
              <a:rPr sz="1100" b="0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nhãn</a:t>
            </a:r>
            <a:endParaRPr sz="1100" b="0" i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502DC9-6944-4ED5-8A81-3A903A31314A}"/>
              </a:ext>
            </a:extLst>
          </p:cNvPr>
          <p:cNvSpPr/>
          <p:nvPr/>
        </p:nvSpPr>
        <p:spPr>
          <a:xfrm>
            <a:off x="9235440" y="1005840"/>
            <a:ext cx="274320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9EFDD6-AE0C-46B6-B769-DE102C49251D}"/>
              </a:ext>
            </a:extLst>
          </p:cNvPr>
          <p:cNvSpPr txBox="1"/>
          <p:nvPr/>
        </p:nvSpPr>
        <p:spPr>
          <a:xfrm>
            <a:off x="9235440" y="1097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FC163-9EA8-400A-87FF-C3CA250B54FC}"/>
              </a:ext>
            </a:extLst>
          </p:cNvPr>
          <p:cNvSpPr txBox="1"/>
          <p:nvPr/>
        </p:nvSpPr>
        <p:spPr>
          <a:xfrm>
            <a:off x="9235440" y="17373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Nhãn</a:t>
            </a:r>
            <a:r>
              <a:rPr sz="1100" b="0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sz="1100" b="0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endParaRPr sz="1100" b="0" i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537B3A-0DAE-490B-B4FC-351F8DF02939}"/>
              </a:ext>
            </a:extLst>
          </p:cNvPr>
          <p:cNvSpPr/>
          <p:nvPr/>
        </p:nvSpPr>
        <p:spPr>
          <a:xfrm>
            <a:off x="516572" y="2496532"/>
            <a:ext cx="55778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FEB965-66F1-4366-A4CE-87AD18C3DA14}"/>
              </a:ext>
            </a:extLst>
          </p:cNvPr>
          <p:cNvSpPr/>
          <p:nvPr/>
        </p:nvSpPr>
        <p:spPr>
          <a:xfrm>
            <a:off x="516572" y="2496532"/>
            <a:ext cx="5577840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C5228E-1C81-40F7-A9A6-4871CFB356FB}"/>
              </a:ext>
            </a:extLst>
          </p:cNvPr>
          <p:cNvSpPr txBox="1"/>
          <p:nvPr/>
        </p:nvSpPr>
        <p:spPr>
          <a:xfrm>
            <a:off x="608012" y="2542252"/>
            <a:ext cx="5394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sz="13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sz="13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sz="13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thập</a:t>
            </a:r>
            <a:r>
              <a:rPr sz="13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gán</a:t>
            </a:r>
            <a:r>
              <a:rPr sz="13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nhãn</a:t>
            </a:r>
            <a:endParaRPr sz="1300" b="1" i="0" dirty="0">
              <a:solidFill>
                <a:srgbClr val="0D2B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698BB4-6750-4A1A-95BF-C74331DAC5DE}"/>
              </a:ext>
            </a:extLst>
          </p:cNvPr>
          <p:cNvSpPr/>
          <p:nvPr/>
        </p:nvSpPr>
        <p:spPr>
          <a:xfrm>
            <a:off x="699452" y="3045172"/>
            <a:ext cx="457200" cy="457200"/>
          </a:xfrm>
          <a:prstGeom prst="rect">
            <a:avLst/>
          </a:prstGeom>
          <a:solidFill>
            <a:srgbClr val="1A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BCB315-7292-4AA9-9FF5-BBD8FF02BC8B}"/>
              </a:ext>
            </a:extLst>
          </p:cNvPr>
          <p:cNvSpPr txBox="1"/>
          <p:nvPr/>
        </p:nvSpPr>
        <p:spPr>
          <a:xfrm>
            <a:off x="699452" y="3090892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361435-A8F8-4465-BCB7-47FA50B863B9}"/>
              </a:ext>
            </a:extLst>
          </p:cNvPr>
          <p:cNvSpPr txBox="1"/>
          <p:nvPr/>
        </p:nvSpPr>
        <p:spPr>
          <a:xfrm>
            <a:off x="1248092" y="3045172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 </a:t>
            </a:r>
            <a:r>
              <a:rPr sz="11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thập</a:t>
            </a:r>
            <a:r>
              <a:rPr sz="11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sz="11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sz="1100" b="1" i="0" dirty="0">
              <a:solidFill>
                <a:srgbClr val="0D2B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89932C-BFEB-49C4-9537-A558CEC1C040}"/>
              </a:ext>
            </a:extLst>
          </p:cNvPr>
          <p:cNvSpPr txBox="1"/>
          <p:nvPr/>
        </p:nvSpPr>
        <p:spPr>
          <a:xfrm>
            <a:off x="1248092" y="3301204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Apify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TikTok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Scraper crawl </a:t>
            </a:r>
            <a:r>
              <a:rPr lang="vi-VN"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video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2.865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bình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kênh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@travinhuniversity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615752-A81E-4AF4-84AB-97F4E1A1377D}"/>
              </a:ext>
            </a:extLst>
          </p:cNvPr>
          <p:cNvSpPr/>
          <p:nvPr/>
        </p:nvSpPr>
        <p:spPr>
          <a:xfrm>
            <a:off x="699452" y="3868132"/>
            <a:ext cx="457200" cy="457200"/>
          </a:xfrm>
          <a:prstGeom prst="rect">
            <a:avLst/>
          </a:prstGeom>
          <a:solidFill>
            <a:srgbClr val="1A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3BE00F-AEBC-4E3E-AD11-76D1A6AEB930}"/>
              </a:ext>
            </a:extLst>
          </p:cNvPr>
          <p:cNvSpPr txBox="1"/>
          <p:nvPr/>
        </p:nvSpPr>
        <p:spPr>
          <a:xfrm>
            <a:off x="699452" y="3913852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ACE0C-6E25-46BE-8CFB-E65DD022E420}"/>
              </a:ext>
            </a:extLst>
          </p:cNvPr>
          <p:cNvSpPr txBox="1"/>
          <p:nvPr/>
        </p:nvSpPr>
        <p:spPr>
          <a:xfrm>
            <a:off x="1248092" y="3868132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Tiền xử lý văn bản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7117B6-5359-4FF2-80F2-F5BD9B83B03D}"/>
              </a:ext>
            </a:extLst>
          </p:cNvPr>
          <p:cNvSpPr txBox="1"/>
          <p:nvPr/>
        </p:nvSpPr>
        <p:spPr>
          <a:xfrm>
            <a:off x="1248092" y="4124164"/>
            <a:ext cx="4663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@mention,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teen code,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emoji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F8720EF-9126-4C05-9C72-6D1CBCD8574F}"/>
              </a:ext>
            </a:extLst>
          </p:cNvPr>
          <p:cNvSpPr/>
          <p:nvPr/>
        </p:nvSpPr>
        <p:spPr>
          <a:xfrm>
            <a:off x="699452" y="4691092"/>
            <a:ext cx="457200" cy="457200"/>
          </a:xfrm>
          <a:prstGeom prst="rect">
            <a:avLst/>
          </a:prstGeom>
          <a:solidFill>
            <a:srgbClr val="1A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717C00-2B79-40A6-BB31-ECB09971BD64}"/>
              </a:ext>
            </a:extLst>
          </p:cNvPr>
          <p:cNvSpPr txBox="1"/>
          <p:nvPr/>
        </p:nvSpPr>
        <p:spPr>
          <a:xfrm>
            <a:off x="699452" y="4736812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50E2B1-CF10-43AA-BF37-99FA29BF56C6}"/>
              </a:ext>
            </a:extLst>
          </p:cNvPr>
          <p:cNvSpPr txBox="1"/>
          <p:nvPr/>
        </p:nvSpPr>
        <p:spPr>
          <a:xfrm>
            <a:off x="1248092" y="4691092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Gán nhãn thủ công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CBCC60-F12A-49EB-A778-63A636F5A782}"/>
              </a:ext>
            </a:extLst>
          </p:cNvPr>
          <p:cNvSpPr txBox="1"/>
          <p:nvPr/>
        </p:nvSpPr>
        <p:spPr>
          <a:xfrm>
            <a:off x="1248092" y="4947124"/>
            <a:ext cx="4663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Gán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2.004 comment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nhãn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Positive / Neutral / Negative qua dashboard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1F0E476-36C5-496A-83E0-33FC4D21F9A6}"/>
              </a:ext>
            </a:extLst>
          </p:cNvPr>
          <p:cNvSpPr/>
          <p:nvPr/>
        </p:nvSpPr>
        <p:spPr>
          <a:xfrm>
            <a:off x="699452" y="5514052"/>
            <a:ext cx="457200" cy="457200"/>
          </a:xfrm>
          <a:prstGeom prst="rect">
            <a:avLst/>
          </a:prstGeom>
          <a:solidFill>
            <a:srgbClr val="1A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768BDF-C564-4B7F-935D-49BBB1F7D2C9}"/>
              </a:ext>
            </a:extLst>
          </p:cNvPr>
          <p:cNvSpPr txBox="1"/>
          <p:nvPr/>
        </p:nvSpPr>
        <p:spPr>
          <a:xfrm>
            <a:off x="699452" y="5559772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BCD7E9-577C-4D80-AEFB-3D2BA67DAC89}"/>
              </a:ext>
            </a:extLst>
          </p:cNvPr>
          <p:cNvSpPr txBox="1"/>
          <p:nvPr/>
        </p:nvSpPr>
        <p:spPr>
          <a:xfrm>
            <a:off x="1248092" y="5514052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sz="11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sz="11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sz="11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endParaRPr sz="1100" b="1" i="0" dirty="0">
              <a:solidFill>
                <a:srgbClr val="0D2B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AE6E90-9BEE-46D9-A0BB-1A29884F0E07}"/>
              </a:ext>
            </a:extLst>
          </p:cNvPr>
          <p:cNvSpPr txBox="1"/>
          <p:nvPr/>
        </p:nvSpPr>
        <p:spPr>
          <a:xfrm>
            <a:off x="1248092" y="5770084"/>
            <a:ext cx="4663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nhãn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bỏ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comment tag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sz="9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endParaRPr sz="900" b="0" i="0" dirty="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BB4BD4D-0176-4A8B-B9D2-89B785CB90CD}"/>
              </a:ext>
            </a:extLst>
          </p:cNvPr>
          <p:cNvSpPr/>
          <p:nvPr/>
        </p:nvSpPr>
        <p:spPr>
          <a:xfrm>
            <a:off x="6320374" y="2534719"/>
            <a:ext cx="5303520" cy="38892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TrườTrường bổ túc nên có đổi gì đi nữa cũng z thôiTrường bổ túc nên có đổi gì đi nữa cũng z thôing bổ túc nên có đổi gì đi nữa cũng z thôi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69429C0-82BA-4209-8499-38AC52CEB58D}"/>
              </a:ext>
            </a:extLst>
          </p:cNvPr>
          <p:cNvSpPr/>
          <p:nvPr/>
        </p:nvSpPr>
        <p:spPr>
          <a:xfrm>
            <a:off x="6309360" y="2496532"/>
            <a:ext cx="5303520" cy="407017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C2D291-8191-4E40-86BF-0F1E05F5B258}"/>
              </a:ext>
            </a:extLst>
          </p:cNvPr>
          <p:cNvSpPr txBox="1"/>
          <p:nvPr/>
        </p:nvSpPr>
        <p:spPr>
          <a:xfrm>
            <a:off x="6400800" y="2542252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3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 dụ dữ liệu </a:t>
            </a:r>
            <a:endParaRPr sz="1300" b="1" i="0" dirty="0">
              <a:solidFill>
                <a:srgbClr val="0D2B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961DF4-0B2B-4A8C-B3C8-DC105E605639}"/>
              </a:ext>
            </a:extLst>
          </p:cNvPr>
          <p:cNvSpPr txBox="1"/>
          <p:nvPr/>
        </p:nvSpPr>
        <p:spPr>
          <a:xfrm>
            <a:off x="7772400" y="3118324"/>
            <a:ext cx="3749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1.678 comment (58.6%)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49F6B0-0E6D-4466-9BCA-42CE3B53A1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90" t="8364" r="29657" b="1"/>
          <a:stretch/>
        </p:blipFill>
        <p:spPr>
          <a:xfrm>
            <a:off x="6320373" y="2911082"/>
            <a:ext cx="5292507" cy="351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6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82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FINE-TUNE MÔ HÌNH PHOBERT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04A6EA0-DBEB-4EE8-98D3-3F61280EB35C}"/>
              </a:ext>
            </a:extLst>
          </p:cNvPr>
          <p:cNvSpPr/>
          <p:nvPr/>
        </p:nvSpPr>
        <p:spPr>
          <a:xfrm>
            <a:off x="2221865" y="1097280"/>
            <a:ext cx="1463040" cy="914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554576-32B1-4E3A-96EB-16D151460AD2}"/>
              </a:ext>
            </a:extLst>
          </p:cNvPr>
          <p:cNvSpPr txBox="1"/>
          <p:nvPr/>
        </p:nvSpPr>
        <p:spPr>
          <a:xfrm>
            <a:off x="2221865" y="1188720"/>
            <a:ext cx="1463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PhoBERT</a:t>
            </a:r>
            <a:r>
              <a:rPr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Base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85E3CE-535D-48F1-A4E6-6859A9CE86F1}"/>
              </a:ext>
            </a:extLst>
          </p:cNvPr>
          <p:cNvSpPr txBox="1"/>
          <p:nvPr/>
        </p:nvSpPr>
        <p:spPr>
          <a:xfrm>
            <a:off x="3684905" y="1064362"/>
            <a:ext cx="9143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1640EDB-15BD-430F-B50E-1F750D5B6E47}"/>
              </a:ext>
            </a:extLst>
          </p:cNvPr>
          <p:cNvSpPr/>
          <p:nvPr/>
        </p:nvSpPr>
        <p:spPr>
          <a:xfrm>
            <a:off x="4663440" y="1109307"/>
            <a:ext cx="1463040" cy="914400"/>
          </a:xfrm>
          <a:prstGeom prst="rect">
            <a:avLst/>
          </a:prstGeom>
          <a:solidFill>
            <a:srgbClr val="1A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3D553D-FE4A-4B16-B5DC-58F0E3396E88}"/>
              </a:ext>
            </a:extLst>
          </p:cNvPr>
          <p:cNvSpPr txBox="1"/>
          <p:nvPr/>
        </p:nvSpPr>
        <p:spPr>
          <a:xfrm>
            <a:off x="4663440" y="1200747"/>
            <a:ext cx="1463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
TVU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DAD1C7-761E-40A8-834F-D927433D8352}"/>
              </a:ext>
            </a:extLst>
          </p:cNvPr>
          <p:cNvSpPr txBox="1"/>
          <p:nvPr/>
        </p:nvSpPr>
        <p:spPr>
          <a:xfrm>
            <a:off x="6126480" y="1044749"/>
            <a:ext cx="914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CBD4434-5802-4697-891F-9E1B5F18DB49}"/>
              </a:ext>
            </a:extLst>
          </p:cNvPr>
          <p:cNvSpPr/>
          <p:nvPr/>
        </p:nvSpPr>
        <p:spPr>
          <a:xfrm>
            <a:off x="7040880" y="1097280"/>
            <a:ext cx="1463040" cy="91440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0C38656-99C8-44F6-B61F-0F167B7738BD}"/>
              </a:ext>
            </a:extLst>
          </p:cNvPr>
          <p:cNvSpPr txBox="1"/>
          <p:nvPr/>
        </p:nvSpPr>
        <p:spPr>
          <a:xfrm>
            <a:off x="7040880" y="1188720"/>
            <a:ext cx="1463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Fine-
tune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EA12A8F-7D1C-4446-9844-C35CDEC6E1B1}"/>
              </a:ext>
            </a:extLst>
          </p:cNvPr>
          <p:cNvSpPr txBox="1"/>
          <p:nvPr/>
        </p:nvSpPr>
        <p:spPr>
          <a:xfrm>
            <a:off x="8503920" y="1023908"/>
            <a:ext cx="914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9C0C058-C625-4795-AE1E-EC203CBE8437}"/>
              </a:ext>
            </a:extLst>
          </p:cNvPr>
          <p:cNvSpPr/>
          <p:nvPr/>
        </p:nvSpPr>
        <p:spPr>
          <a:xfrm>
            <a:off x="9418320" y="1097280"/>
            <a:ext cx="146304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51FBDD-2688-4CE6-9A7B-A80F86E9DDAE}"/>
              </a:ext>
            </a:extLst>
          </p:cNvPr>
          <p:cNvSpPr txBox="1"/>
          <p:nvPr/>
        </p:nvSpPr>
        <p:spPr>
          <a:xfrm>
            <a:off x="9522372" y="1188720"/>
            <a:ext cx="13589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PhoBERT</a:t>
            </a:r>
            <a:r>
              <a:rPr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TVU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5E1BD54-BB81-4FB9-BDEE-8B589556452A}"/>
              </a:ext>
            </a:extLst>
          </p:cNvPr>
          <p:cNvSpPr/>
          <p:nvPr/>
        </p:nvSpPr>
        <p:spPr>
          <a:xfrm>
            <a:off x="3290787" y="2211663"/>
            <a:ext cx="557784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83F09A6-3560-425E-977C-3CEAE9DBF007}"/>
              </a:ext>
            </a:extLst>
          </p:cNvPr>
          <p:cNvSpPr/>
          <p:nvPr/>
        </p:nvSpPr>
        <p:spPr>
          <a:xfrm>
            <a:off x="3290787" y="2211663"/>
            <a:ext cx="5577840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8C72F80-F475-47C6-9A2D-42F82B8AEB3A}"/>
              </a:ext>
            </a:extLst>
          </p:cNvPr>
          <p:cNvSpPr txBox="1"/>
          <p:nvPr/>
        </p:nvSpPr>
        <p:spPr>
          <a:xfrm>
            <a:off x="3382227" y="2257383"/>
            <a:ext cx="5394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sz="13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sz="13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sz="13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sz="13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sz="1300" b="1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i="0" dirty="0" err="1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endParaRPr sz="1300" b="1" i="0" dirty="0">
              <a:solidFill>
                <a:srgbClr val="0D2B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C61BD9B-0FBD-4994-9305-01B44BFFAB31}"/>
              </a:ext>
            </a:extLst>
          </p:cNvPr>
          <p:cNvSpPr/>
          <p:nvPr/>
        </p:nvSpPr>
        <p:spPr>
          <a:xfrm>
            <a:off x="3473667" y="2714583"/>
            <a:ext cx="32004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3A19287-21E9-4C34-8FBE-C70C1F47A4C5}"/>
              </a:ext>
            </a:extLst>
          </p:cNvPr>
          <p:cNvSpPr txBox="1"/>
          <p:nvPr/>
        </p:nvSpPr>
        <p:spPr>
          <a:xfrm>
            <a:off x="3565107" y="2787735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Accuracy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D7A12E4-B248-4B74-BE11-8F51B0F9E211}"/>
              </a:ext>
            </a:extLst>
          </p:cNvPr>
          <p:cNvSpPr/>
          <p:nvPr/>
        </p:nvSpPr>
        <p:spPr>
          <a:xfrm>
            <a:off x="6765507" y="2714583"/>
            <a:ext cx="192024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7BF78EF-6442-428B-9424-2CA47741FA74}"/>
              </a:ext>
            </a:extLst>
          </p:cNvPr>
          <p:cNvSpPr txBox="1"/>
          <p:nvPr/>
        </p:nvSpPr>
        <p:spPr>
          <a:xfrm>
            <a:off x="6765507" y="2787735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74.6%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15D0498-8B45-428E-8E39-E1BEE7787AF8}"/>
              </a:ext>
            </a:extLst>
          </p:cNvPr>
          <p:cNvSpPr/>
          <p:nvPr/>
        </p:nvSpPr>
        <p:spPr>
          <a:xfrm>
            <a:off x="3473667" y="3354663"/>
            <a:ext cx="32004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4CDD14A-636B-46DB-8B2D-708B258D14B9}"/>
              </a:ext>
            </a:extLst>
          </p:cNvPr>
          <p:cNvSpPr txBox="1"/>
          <p:nvPr/>
        </p:nvSpPr>
        <p:spPr>
          <a:xfrm>
            <a:off x="3565107" y="3427815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 Weighted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6A21FF5-7E79-4820-9CC9-0ED5256048A4}"/>
              </a:ext>
            </a:extLst>
          </p:cNvPr>
          <p:cNvSpPr/>
          <p:nvPr/>
        </p:nvSpPr>
        <p:spPr>
          <a:xfrm>
            <a:off x="6765507" y="3354663"/>
            <a:ext cx="1920240" cy="502920"/>
          </a:xfrm>
          <a:prstGeom prst="rect">
            <a:avLst/>
          </a:prstGeom>
          <a:solidFill>
            <a:srgbClr val="1A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D580D39-2E9E-4588-B2A1-5019E06AF673}"/>
              </a:ext>
            </a:extLst>
          </p:cNvPr>
          <p:cNvSpPr txBox="1"/>
          <p:nvPr/>
        </p:nvSpPr>
        <p:spPr>
          <a:xfrm>
            <a:off x="6765507" y="3427815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0.7435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9D61C66-C464-4B96-B80C-D94D8A67F6A3}"/>
              </a:ext>
            </a:extLst>
          </p:cNvPr>
          <p:cNvSpPr/>
          <p:nvPr/>
        </p:nvSpPr>
        <p:spPr>
          <a:xfrm>
            <a:off x="3473667" y="3994743"/>
            <a:ext cx="32004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464766F-C3CA-4222-9F70-99EA2510C3C2}"/>
              </a:ext>
            </a:extLst>
          </p:cNvPr>
          <p:cNvSpPr txBox="1"/>
          <p:nvPr/>
        </p:nvSpPr>
        <p:spPr>
          <a:xfrm>
            <a:off x="3565107" y="4067895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 Macro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8333238-A1B3-477F-B8BE-64B88394F513}"/>
              </a:ext>
            </a:extLst>
          </p:cNvPr>
          <p:cNvSpPr/>
          <p:nvPr/>
        </p:nvSpPr>
        <p:spPr>
          <a:xfrm>
            <a:off x="6765507" y="3994743"/>
            <a:ext cx="1920240" cy="502920"/>
          </a:xfrm>
          <a:prstGeom prst="rect">
            <a:avLst/>
          </a:prstGeom>
          <a:solidFill>
            <a:srgbClr val="1A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0786137-01D1-4C2F-8C87-65EE17D4F018}"/>
              </a:ext>
            </a:extLst>
          </p:cNvPr>
          <p:cNvSpPr txBox="1"/>
          <p:nvPr/>
        </p:nvSpPr>
        <p:spPr>
          <a:xfrm>
            <a:off x="6765507" y="4067895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0.6794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7C66ED1-6337-4CC0-A768-0656D3622237}"/>
              </a:ext>
            </a:extLst>
          </p:cNvPr>
          <p:cNvSpPr/>
          <p:nvPr/>
        </p:nvSpPr>
        <p:spPr>
          <a:xfrm>
            <a:off x="3473667" y="4634822"/>
            <a:ext cx="32004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22422FB-7A75-4E52-843A-E438D199CA37}"/>
              </a:ext>
            </a:extLst>
          </p:cNvPr>
          <p:cNvSpPr txBox="1"/>
          <p:nvPr/>
        </p:nvSpPr>
        <p:spPr>
          <a:xfrm>
            <a:off x="3565107" y="4707974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Val F1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415401D-D1FA-482A-B1E4-DB23FDF1880E}"/>
              </a:ext>
            </a:extLst>
          </p:cNvPr>
          <p:cNvSpPr/>
          <p:nvPr/>
        </p:nvSpPr>
        <p:spPr>
          <a:xfrm>
            <a:off x="6765507" y="4634822"/>
            <a:ext cx="1920240" cy="50292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28AB83E-2D25-4432-9432-999A7C7D9164}"/>
              </a:ext>
            </a:extLst>
          </p:cNvPr>
          <p:cNvSpPr txBox="1"/>
          <p:nvPr/>
        </p:nvSpPr>
        <p:spPr>
          <a:xfrm>
            <a:off x="6765507" y="470797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0.6734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206823A-05F3-442E-BC1D-B3B27436E5CB}"/>
              </a:ext>
            </a:extLst>
          </p:cNvPr>
          <p:cNvSpPr/>
          <p:nvPr/>
        </p:nvSpPr>
        <p:spPr>
          <a:xfrm>
            <a:off x="3473667" y="5274903"/>
            <a:ext cx="32004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230611F-F792-41EA-985A-7FFB82A53B73}"/>
              </a:ext>
            </a:extLst>
          </p:cNvPr>
          <p:cNvSpPr txBox="1"/>
          <p:nvPr/>
        </p:nvSpPr>
        <p:spPr>
          <a:xfrm>
            <a:off x="3565107" y="5348055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 size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1145539-B8B7-4418-82F8-5F6337D8EE4E}"/>
              </a:ext>
            </a:extLst>
          </p:cNvPr>
          <p:cNvSpPr/>
          <p:nvPr/>
        </p:nvSpPr>
        <p:spPr>
          <a:xfrm>
            <a:off x="6765507" y="5274903"/>
            <a:ext cx="192024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6CCAEAA-9D8F-458B-BE64-FAE82DDEC262}"/>
              </a:ext>
            </a:extLst>
          </p:cNvPr>
          <p:cNvSpPr txBox="1"/>
          <p:nvPr/>
        </p:nvSpPr>
        <p:spPr>
          <a:xfrm>
            <a:off x="6765507" y="5348055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1947</a:t>
            </a:r>
            <a:r>
              <a:rPr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endParaRPr sz="1400" b="1" i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B46B383-BBC1-45F9-9626-E726AABB61C0}"/>
              </a:ext>
            </a:extLst>
          </p:cNvPr>
          <p:cNvSpPr txBox="1"/>
          <p:nvPr/>
        </p:nvSpPr>
        <p:spPr>
          <a:xfrm>
            <a:off x="3473667" y="5869263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 Score từng nhãn: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BAC7320-06DE-434E-AC32-2D0EB893CBF2}"/>
              </a:ext>
            </a:extLst>
          </p:cNvPr>
          <p:cNvSpPr/>
          <p:nvPr/>
        </p:nvSpPr>
        <p:spPr>
          <a:xfrm>
            <a:off x="3473667" y="5869263"/>
            <a:ext cx="1645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405C78F-CF15-4F0D-91CF-66C9E0F24DC1}"/>
              </a:ext>
            </a:extLst>
          </p:cNvPr>
          <p:cNvSpPr txBox="1"/>
          <p:nvPr/>
        </p:nvSpPr>
        <p:spPr>
          <a:xfrm>
            <a:off x="3473667" y="5887551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
0.73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D5F59F9-44C8-45DE-871F-4CDEBB1D7BD4}"/>
              </a:ext>
            </a:extLst>
          </p:cNvPr>
          <p:cNvSpPr/>
          <p:nvPr/>
        </p:nvSpPr>
        <p:spPr>
          <a:xfrm>
            <a:off x="5302467" y="5869263"/>
            <a:ext cx="1645920" cy="502920"/>
          </a:xfrm>
          <a:prstGeom prst="rect">
            <a:avLst/>
          </a:prstGeom>
          <a:solidFill>
            <a:srgbClr val="1A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029F9F3-0CE6-4CFF-BAEE-6D6539D9B4F6}"/>
              </a:ext>
            </a:extLst>
          </p:cNvPr>
          <p:cNvSpPr txBox="1"/>
          <p:nvPr/>
        </p:nvSpPr>
        <p:spPr>
          <a:xfrm>
            <a:off x="5302467" y="5887551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Neutral
0.80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08B7E3A-D623-4CD0-9E6C-671D62D47877}"/>
              </a:ext>
            </a:extLst>
          </p:cNvPr>
          <p:cNvSpPr/>
          <p:nvPr/>
        </p:nvSpPr>
        <p:spPr>
          <a:xfrm>
            <a:off x="7131267" y="5869263"/>
            <a:ext cx="1645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240748A-E528-402C-B662-C5A9A11C56FD}"/>
              </a:ext>
            </a:extLst>
          </p:cNvPr>
          <p:cNvSpPr txBox="1"/>
          <p:nvPr/>
        </p:nvSpPr>
        <p:spPr>
          <a:xfrm>
            <a:off x="7131267" y="5887551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
0.51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ĐÁNH GIÁ VÀ SO SÁNH MÔ HÌNH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8B2B5-F584-40F8-8C82-54749E2FD08D}"/>
              </a:ext>
            </a:extLst>
          </p:cNvPr>
          <p:cNvSpPr txBox="1"/>
          <p:nvPr/>
        </p:nvSpPr>
        <p:spPr>
          <a:xfrm>
            <a:off x="274320" y="1143000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/>
              <a:t>10,843,095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A2ADAD-0BE0-4C99-8266-8BD77CD37FD4}"/>
              </a:ext>
            </a:extLst>
          </p:cNvPr>
          <p:cNvSpPr txBox="1"/>
          <p:nvPr/>
        </p:nvSpPr>
        <p:spPr>
          <a:xfrm>
            <a:off x="2651760" y="1143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367,185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DC5C3-816A-481B-AF20-0BAE7CE14221}"/>
              </a:ext>
            </a:extLst>
          </p:cNvPr>
          <p:cNvSpPr txBox="1"/>
          <p:nvPr/>
        </p:nvSpPr>
        <p:spPr>
          <a:xfrm>
            <a:off x="5166359" y="16848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1,222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DD1D5B-E16A-4774-BE05-113DAD528171}"/>
              </a:ext>
            </a:extLst>
          </p:cNvPr>
          <p:cNvSpPr txBox="1"/>
          <p:nvPr/>
        </p:nvSpPr>
        <p:spPr>
          <a:xfrm>
            <a:off x="7223759" y="1143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/>
              <a:t>77,377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CD5531-2275-467A-ADEF-9BEAE0CD4065}"/>
              </a:ext>
            </a:extLst>
          </p:cNvPr>
          <p:cNvSpPr txBox="1"/>
          <p:nvPr/>
        </p:nvSpPr>
        <p:spPr>
          <a:xfrm>
            <a:off x="457200" y="1194182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sz="16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sz="1600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PhoBERT</a:t>
            </a:r>
            <a:r>
              <a:rPr sz="1600" b="1" i="0" dirty="0">
                <a:latin typeface="Arial" panose="020B0604020202020204" pitchFamily="34" charset="0"/>
                <a:cs typeface="Arial" panose="020B0604020202020204" pitchFamily="34" charset="0"/>
              </a:rPr>
              <a:t> TVU vs </a:t>
            </a:r>
            <a:r>
              <a:rPr sz="16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Wonrax</a:t>
            </a:r>
            <a:r>
              <a:rPr sz="1600" b="1" i="0" dirty="0">
                <a:latin typeface="Arial" panose="020B0604020202020204" pitchFamily="34" charset="0"/>
                <a:cs typeface="Arial" panose="020B0604020202020204" pitchFamily="34" charset="0"/>
              </a:rPr>
              <a:t> (model </a:t>
            </a:r>
            <a:r>
              <a:rPr sz="16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tiếng</a:t>
            </a:r>
            <a:r>
              <a:rPr sz="1600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Việt</a:t>
            </a:r>
            <a:r>
              <a:rPr sz="1600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sz="1600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quát</a:t>
            </a:r>
            <a:r>
              <a:rPr sz="1600" b="1" i="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sz="16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sz="1600" b="1" i="0" dirty="0">
                <a:latin typeface="Arial" panose="020B0604020202020204" pitchFamily="34" charset="0"/>
                <a:cs typeface="Arial" panose="020B0604020202020204" pitchFamily="34" charset="0"/>
              </a:rPr>
              <a:t> 2.004 comment ground truth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EDA68D3-BB1B-47B7-B98D-590E354312D4}"/>
              </a:ext>
            </a:extLst>
          </p:cNvPr>
          <p:cNvSpPr/>
          <p:nvPr/>
        </p:nvSpPr>
        <p:spPr>
          <a:xfrm>
            <a:off x="594360" y="1750608"/>
            <a:ext cx="5029200" cy="41148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0431E22-685E-4054-8471-2B107F08E8CC}"/>
              </a:ext>
            </a:extLst>
          </p:cNvPr>
          <p:cNvSpPr/>
          <p:nvPr/>
        </p:nvSpPr>
        <p:spPr>
          <a:xfrm>
            <a:off x="594360" y="1750608"/>
            <a:ext cx="50292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B70B77-3DCA-4216-9342-F2564C6BAC14}"/>
              </a:ext>
            </a:extLst>
          </p:cNvPr>
          <p:cNvSpPr txBox="1"/>
          <p:nvPr/>
        </p:nvSpPr>
        <p:spPr>
          <a:xfrm>
            <a:off x="1255173" y="1815330"/>
            <a:ext cx="39818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wonrax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phobert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-base-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vietnamese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-sentiment</a:t>
            </a:r>
            <a:r>
              <a:rPr sz="13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4B8D3FC-3BD4-484A-BF39-4C135A311730}"/>
              </a:ext>
            </a:extLst>
          </p:cNvPr>
          <p:cNvSpPr/>
          <p:nvPr/>
        </p:nvSpPr>
        <p:spPr>
          <a:xfrm>
            <a:off x="777240" y="2299248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81F011-26AD-4546-B0E1-7DF3DBC68BE1}"/>
              </a:ext>
            </a:extLst>
          </p:cNvPr>
          <p:cNvSpPr txBox="1"/>
          <p:nvPr/>
        </p:nvSpPr>
        <p:spPr>
          <a:xfrm>
            <a:off x="960120" y="2390688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B3EB57-BB3F-4272-858C-052F0A23B206}"/>
              </a:ext>
            </a:extLst>
          </p:cNvPr>
          <p:cNvSpPr txBox="1"/>
          <p:nvPr/>
        </p:nvSpPr>
        <p:spPr>
          <a:xfrm>
            <a:off x="3337560" y="2344967"/>
            <a:ext cx="1828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31.94%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C4952BD-64F4-48C0-BD92-7E1BE309FF06}"/>
              </a:ext>
            </a:extLst>
          </p:cNvPr>
          <p:cNvSpPr/>
          <p:nvPr/>
        </p:nvSpPr>
        <p:spPr>
          <a:xfrm>
            <a:off x="777240" y="3122208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912DF7-346B-489A-B142-D029B8F3789F}"/>
              </a:ext>
            </a:extLst>
          </p:cNvPr>
          <p:cNvSpPr txBox="1"/>
          <p:nvPr/>
        </p:nvSpPr>
        <p:spPr>
          <a:xfrm>
            <a:off x="960120" y="3213648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 Weighted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A384CFF-9061-4444-A97F-3AF49B468621}"/>
              </a:ext>
            </a:extLst>
          </p:cNvPr>
          <p:cNvSpPr txBox="1"/>
          <p:nvPr/>
        </p:nvSpPr>
        <p:spPr>
          <a:xfrm>
            <a:off x="3337560" y="3167927"/>
            <a:ext cx="1828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0.3191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2E30EBC-0F12-4F95-9896-1AA1EA69562D}"/>
              </a:ext>
            </a:extLst>
          </p:cNvPr>
          <p:cNvSpPr/>
          <p:nvPr/>
        </p:nvSpPr>
        <p:spPr>
          <a:xfrm>
            <a:off x="777240" y="3945168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D180071-045F-4656-826A-FF50686889CE}"/>
              </a:ext>
            </a:extLst>
          </p:cNvPr>
          <p:cNvSpPr txBox="1"/>
          <p:nvPr/>
        </p:nvSpPr>
        <p:spPr>
          <a:xfrm>
            <a:off x="960120" y="4036608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 Macro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B789321-FE87-4147-BFA9-598043AD2FDB}"/>
              </a:ext>
            </a:extLst>
          </p:cNvPr>
          <p:cNvSpPr txBox="1"/>
          <p:nvPr/>
        </p:nvSpPr>
        <p:spPr>
          <a:xfrm>
            <a:off x="3337560" y="3990888"/>
            <a:ext cx="1828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0.2971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617CB74-039B-49F8-A085-17859A60EB49}"/>
              </a:ext>
            </a:extLst>
          </p:cNvPr>
          <p:cNvSpPr txBox="1"/>
          <p:nvPr/>
        </p:nvSpPr>
        <p:spPr>
          <a:xfrm>
            <a:off x="777240" y="4905288"/>
            <a:ext cx="4663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sz="2400" b="0" i="0" dirty="0" err="1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sz="2400" b="0" i="0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quát</a:t>
            </a:r>
            <a:r>
              <a:rPr sz="2400" b="0" i="0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sz="2400" b="0" i="0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2400" b="0" i="0" dirty="0" err="1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sz="2400" b="0" i="0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sz="2400" b="0" i="0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sz="2400" b="0" i="0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sz="2400" b="0" i="0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sz="2400" b="0" i="0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TVU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0539F40-6340-4C14-97B0-4F016D8B5EE5}"/>
              </a:ext>
            </a:extLst>
          </p:cNvPr>
          <p:cNvSpPr txBox="1"/>
          <p:nvPr/>
        </p:nvSpPr>
        <p:spPr>
          <a:xfrm>
            <a:off x="5715000" y="3259368"/>
            <a:ext cx="91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42103CC-6831-4948-8AE9-B4F28D876E26}"/>
              </a:ext>
            </a:extLst>
          </p:cNvPr>
          <p:cNvSpPr/>
          <p:nvPr/>
        </p:nvSpPr>
        <p:spPr>
          <a:xfrm>
            <a:off x="6812280" y="1859691"/>
            <a:ext cx="5029200" cy="41148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8DFB5DF-CB9F-474B-A3F3-D77C3C52CEA8}"/>
              </a:ext>
            </a:extLst>
          </p:cNvPr>
          <p:cNvSpPr/>
          <p:nvPr/>
        </p:nvSpPr>
        <p:spPr>
          <a:xfrm>
            <a:off x="6812280" y="1750608"/>
            <a:ext cx="50292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AB6C22-E109-4711-8D90-A239D0AAF942}"/>
              </a:ext>
            </a:extLst>
          </p:cNvPr>
          <p:cNvSpPr txBox="1"/>
          <p:nvPr/>
        </p:nvSpPr>
        <p:spPr>
          <a:xfrm>
            <a:off x="8207528" y="1814946"/>
            <a:ext cx="2560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PhoBERT TVU (Fine-tuned)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FC0776B-8BA9-4F14-84D9-36F0F2AFD3C7}"/>
              </a:ext>
            </a:extLst>
          </p:cNvPr>
          <p:cNvSpPr/>
          <p:nvPr/>
        </p:nvSpPr>
        <p:spPr>
          <a:xfrm>
            <a:off x="6995160" y="2299248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DCD498F-C5DE-40D1-A155-E47B26A4955B}"/>
              </a:ext>
            </a:extLst>
          </p:cNvPr>
          <p:cNvSpPr txBox="1"/>
          <p:nvPr/>
        </p:nvSpPr>
        <p:spPr>
          <a:xfrm>
            <a:off x="7178040" y="2453136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97E3808-9473-4510-8CDF-766B3CBC65CB}"/>
              </a:ext>
            </a:extLst>
          </p:cNvPr>
          <p:cNvSpPr txBox="1"/>
          <p:nvPr/>
        </p:nvSpPr>
        <p:spPr>
          <a:xfrm>
            <a:off x="8344688" y="2394141"/>
            <a:ext cx="228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81.74%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1CE00C9-B05E-48E5-B7BD-D18C924913C4}"/>
              </a:ext>
            </a:extLst>
          </p:cNvPr>
          <p:cNvSpPr/>
          <p:nvPr/>
        </p:nvSpPr>
        <p:spPr>
          <a:xfrm>
            <a:off x="10195560" y="2390688"/>
            <a:ext cx="137160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F5B2FC6-DF49-4525-B377-0089C612339E}"/>
              </a:ext>
            </a:extLst>
          </p:cNvPr>
          <p:cNvSpPr txBox="1"/>
          <p:nvPr/>
        </p:nvSpPr>
        <p:spPr>
          <a:xfrm>
            <a:off x="10195560" y="2436408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+49.80%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26C70EA-5C54-4ECE-9EDF-B47133CDB2CC}"/>
              </a:ext>
            </a:extLst>
          </p:cNvPr>
          <p:cNvSpPr/>
          <p:nvPr/>
        </p:nvSpPr>
        <p:spPr>
          <a:xfrm>
            <a:off x="6995160" y="3122208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260B22B-9486-4C99-8CDA-5BEE768DA399}"/>
              </a:ext>
            </a:extLst>
          </p:cNvPr>
          <p:cNvSpPr txBox="1"/>
          <p:nvPr/>
        </p:nvSpPr>
        <p:spPr>
          <a:xfrm>
            <a:off x="7178040" y="3245004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 Weighted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28376AE-17B3-4386-AE6E-E5393DA5713F}"/>
              </a:ext>
            </a:extLst>
          </p:cNvPr>
          <p:cNvSpPr txBox="1"/>
          <p:nvPr/>
        </p:nvSpPr>
        <p:spPr>
          <a:xfrm>
            <a:off x="8366760" y="3167927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0.8192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69F7AB7-45B7-4202-9E45-BA42DB34121A}"/>
              </a:ext>
            </a:extLst>
          </p:cNvPr>
          <p:cNvSpPr/>
          <p:nvPr/>
        </p:nvSpPr>
        <p:spPr>
          <a:xfrm>
            <a:off x="10195560" y="3213648"/>
            <a:ext cx="137160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64707C-0B83-4903-B280-B0333783DF01}"/>
              </a:ext>
            </a:extLst>
          </p:cNvPr>
          <p:cNvSpPr txBox="1"/>
          <p:nvPr/>
        </p:nvSpPr>
        <p:spPr>
          <a:xfrm>
            <a:off x="10195560" y="3259367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+0.4941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EA2A4D5-3BAB-4FA9-B25E-E02A1F1F18AF}"/>
              </a:ext>
            </a:extLst>
          </p:cNvPr>
          <p:cNvSpPr/>
          <p:nvPr/>
        </p:nvSpPr>
        <p:spPr>
          <a:xfrm>
            <a:off x="6995160" y="3945168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4AD7B66-BEA4-46D2-AB43-25D011F5FF89}"/>
              </a:ext>
            </a:extLst>
          </p:cNvPr>
          <p:cNvSpPr txBox="1"/>
          <p:nvPr/>
        </p:nvSpPr>
        <p:spPr>
          <a:xfrm>
            <a:off x="7178040" y="4103848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 Macro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9A5DBC-F7CF-439B-AA09-301BE89CD791}"/>
              </a:ext>
            </a:extLst>
          </p:cNvPr>
          <p:cNvSpPr txBox="1"/>
          <p:nvPr/>
        </p:nvSpPr>
        <p:spPr>
          <a:xfrm>
            <a:off x="8366760" y="4031840"/>
            <a:ext cx="228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0.7912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0D28ADE-4467-473F-B350-351BEF4D6FD6}"/>
              </a:ext>
            </a:extLst>
          </p:cNvPr>
          <p:cNvSpPr/>
          <p:nvPr/>
        </p:nvSpPr>
        <p:spPr>
          <a:xfrm>
            <a:off x="10195560" y="4036608"/>
            <a:ext cx="137160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BC42EB-F487-44BF-8452-1E9F0B973FE4}"/>
              </a:ext>
            </a:extLst>
          </p:cNvPr>
          <p:cNvSpPr txBox="1"/>
          <p:nvPr/>
        </p:nvSpPr>
        <p:spPr>
          <a:xfrm>
            <a:off x="10195560" y="4082328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+0.4941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CC31FCE-A09A-4AC3-BCB8-D722998205D3}"/>
              </a:ext>
            </a:extLst>
          </p:cNvPr>
          <p:cNvSpPr txBox="1"/>
          <p:nvPr/>
        </p:nvSpPr>
        <p:spPr>
          <a:xfrm>
            <a:off x="6995160" y="4916560"/>
            <a:ext cx="4663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Fine-tune </a:t>
            </a:r>
            <a:r>
              <a:rPr sz="2400" b="0" i="0" dirty="0" err="1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sz="2400" b="0" i="0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TVU </a:t>
            </a:r>
            <a:r>
              <a:rPr sz="2400" b="0" i="0" dirty="0" err="1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sz="2400" b="0" i="0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model </a:t>
            </a:r>
            <a:r>
              <a:rPr sz="2400" b="0" i="0" dirty="0" err="1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sz="2400" b="0" i="0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sz="2400" b="0" i="0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sz="2400" b="0" i="0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sz="2400" b="0" i="0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</a:t>
            </a:r>
            <a:endParaRPr sz="2400" b="0" i="0" dirty="0">
              <a:solidFill>
                <a:srgbClr val="16A3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XÂY DỰNG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77C12-F2B8-4301-BC99-8A02043413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901"/>
          <a:stretch/>
        </p:blipFill>
        <p:spPr>
          <a:xfrm>
            <a:off x="457200" y="1070368"/>
            <a:ext cx="11438721" cy="517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63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368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PHÂN TÍCH CHỦ ĐỀ &amp; VIRAL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8B2B5-F584-40F8-8C82-54749E2FD08D}"/>
              </a:ext>
            </a:extLst>
          </p:cNvPr>
          <p:cNvSpPr txBox="1"/>
          <p:nvPr/>
        </p:nvSpPr>
        <p:spPr>
          <a:xfrm>
            <a:off x="274320" y="1143000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/>
              <a:t>10,843,095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9034E-1110-445C-ADBF-30C6D7841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143000"/>
            <a:ext cx="11281143" cy="485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7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368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PHÂN TÍCH CHỦ ĐỀ &amp; VIRAL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8B2B5-F584-40F8-8C82-54749E2FD08D}"/>
              </a:ext>
            </a:extLst>
          </p:cNvPr>
          <p:cNvSpPr txBox="1"/>
          <p:nvPr/>
        </p:nvSpPr>
        <p:spPr>
          <a:xfrm>
            <a:off x="274320" y="1143000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/>
              <a:t>10,843,095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07AAA-5DD5-4C69-AD2C-3317EC3F6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51" y="902216"/>
            <a:ext cx="10685721" cy="582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25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368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PHÂN TÍCH CHỦ ĐỀ &amp; VIRAL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8B2B5-F584-40F8-8C82-54749E2FD08D}"/>
              </a:ext>
            </a:extLst>
          </p:cNvPr>
          <p:cNvSpPr txBox="1"/>
          <p:nvPr/>
        </p:nvSpPr>
        <p:spPr>
          <a:xfrm>
            <a:off x="274320" y="1143000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/>
              <a:t>10,843,095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7D974-A9C2-4C3D-9192-DFD95D813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42" y="1136758"/>
            <a:ext cx="11098989" cy="416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08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368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PHÂN TÍCH CHỦ ĐỀ &amp; VIRAL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8B2B5-F584-40F8-8C82-54749E2FD08D}"/>
              </a:ext>
            </a:extLst>
          </p:cNvPr>
          <p:cNvSpPr txBox="1"/>
          <p:nvPr/>
        </p:nvSpPr>
        <p:spPr>
          <a:xfrm>
            <a:off x="274320" y="1143000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/>
              <a:t>10,843,095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661A6-8CF1-4D60-AF1B-B58A863F8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61" y="1002103"/>
            <a:ext cx="10972800" cy="511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45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48739" y="2659559"/>
            <a:ext cx="34913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rPr lang="vi-VN" sz="5400" dirty="0"/>
              <a:t>CẢM ƠN</a:t>
            </a:r>
            <a:endParaRPr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580</TotalTime>
  <Words>668</Words>
  <Application>Microsoft Office PowerPoint</Application>
  <PresentationFormat>Custom</PresentationFormat>
  <Paragraphs>103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ACER</cp:lastModifiedBy>
  <cp:revision>29</cp:revision>
  <dcterms:created xsi:type="dcterms:W3CDTF">2013-01-27T09:14:16Z</dcterms:created>
  <dcterms:modified xsi:type="dcterms:W3CDTF">2026-03-18T06:47:43Z</dcterms:modified>
  <cp:category/>
</cp:coreProperties>
</file>